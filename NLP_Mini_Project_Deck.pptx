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669206"/>
            <a:ext cx="1905000" cy="83700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669206"/>
            <a:ext cx="1905000" cy="8370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57550" y="666750"/>
            <a:ext cx="9345357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Ramrao Adik Institute of Technology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3257550" y="1087710"/>
            <a:ext cx="9345357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Business Systems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047750" y="3549030"/>
            <a:ext cx="178117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Mini Project Presentation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1047750" y="4234830"/>
            <a:ext cx="178117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047750" y="4763467"/>
            <a:ext cx="157162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44"/>
              </a:lnSpc>
              <a:buNone/>
            </a:pPr>
            <a:r>
              <a:rPr lang="en-US" sz="3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“Marathi News Intelligence Pipeline”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15041694" y="7422952"/>
            <a:ext cx="219855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5041694" y="7913489"/>
            <a:ext cx="2198556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Anish Choudhury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5041694" y="8340179"/>
            <a:ext cx="2198556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Atharva Inamdar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5041694" y="8766870"/>
            <a:ext cx="2198556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Abhishek More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5041694" y="9193560"/>
            <a:ext cx="2198556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Aryan Patil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047750" y="1676400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4" name="Text 2"/>
          <p:cNvSpPr/>
          <p:nvPr/>
        </p:nvSpPr>
        <p:spPr>
          <a:xfrm>
            <a:off x="1177290" y="2105025"/>
            <a:ext cx="16139160" cy="5885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12432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400" dirty="0"/>
          </a:p>
          <a:p>
            <a:pPr algn="l" marL="213360" indent="-213360">
              <a:lnSpc>
                <a:spcPct val="112432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/ Basic Concept</a:t>
            </a:r>
            <a:endParaRPr lang="en-US" sz="2400" dirty="0"/>
          </a:p>
          <a:p>
            <a:pPr algn="l" marL="213360" indent="-213360">
              <a:lnSpc>
                <a:spcPct val="112432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Principle / Methodology</a:t>
            </a:r>
            <a:endParaRPr lang="en-US" sz="2400" dirty="0"/>
          </a:p>
          <a:p>
            <a:pPr algn="l" marL="213360" indent="-213360">
              <a:lnSpc>
                <a:spcPct val="112432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400" dirty="0"/>
          </a:p>
          <a:p>
            <a:pPr algn="l" marL="213360" indent="-213360">
              <a:lnSpc>
                <a:spcPct val="112432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2400" dirty="0"/>
          </a:p>
          <a:p>
            <a:pPr algn="l" marL="213360" indent="-213360">
              <a:lnSpc>
                <a:spcPct val="112432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2400" dirty="0"/>
          </a:p>
          <a:p>
            <a:pPr algn="l" marL="213360" indent="-213360">
              <a:lnSpc>
                <a:spcPct val="112432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/ Challenges</a:t>
            </a:r>
            <a:endParaRPr lang="en-US" sz="2400" dirty="0"/>
          </a:p>
          <a:p>
            <a:pPr algn="l" marL="213360" indent="-213360">
              <a:lnSpc>
                <a:spcPct val="112432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Developments / Future Scope</a:t>
            </a:r>
            <a:endParaRPr lang="en-US" sz="2400" dirty="0"/>
          </a:p>
          <a:p>
            <a:pPr algn="l" marL="213360" indent="-213360">
              <a:lnSpc>
                <a:spcPct val="112432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  <a:p>
            <a:pPr algn="l" marL="213360" indent="-213360">
              <a:lnSpc>
                <a:spcPct val="112432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7750" y="8651379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9090571"/>
            <a:ext cx="40016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Marathi News Intelligence Pipeline</a:t>
            </a:r>
            <a:endParaRPr lang="en-US" sz="1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0" y="8851404"/>
            <a:ext cx="1905000" cy="7688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047750" y="1676400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4" name="Text 2"/>
          <p:cNvSpPr/>
          <p:nvPr/>
        </p:nvSpPr>
        <p:spPr>
          <a:xfrm>
            <a:off x="1177290" y="3318123"/>
            <a:ext cx="9455087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Marathi is spoken by more than 83 million people, yet remains low-resource for NLP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77290" y="4388644"/>
            <a:ext cx="9455087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outlets publish continuously — BBC Marathi, Lokmat, ABP Majha, Loksatta — but the search, summarisation and classification tools built for English don't carry over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77290" y="5870600"/>
            <a:ext cx="9455087" cy="946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Marathi is agglutinative: one root takes many suffixed forms — घर → घरात → घरातून → घरांमधून → घराच्या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77290" y="7026846"/>
            <a:ext cx="10083165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whitespace tokeniser treats all five forms as unrelated words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029950" y="4785271"/>
            <a:ext cx="9525" cy="1185863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9" name="Text 7"/>
          <p:cNvSpPr/>
          <p:nvPr/>
        </p:nvSpPr>
        <p:spPr>
          <a:xfrm>
            <a:off x="11229499" y="4785271"/>
            <a:ext cx="629697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7047"/>
              </a:lnSpc>
              <a:buNone/>
            </a:pPr>
            <a:r>
              <a:rPr lang="en-US" sz="63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83M+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11229499" y="5680621"/>
            <a:ext cx="629697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Marathi speakers worldwide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47750" y="8651379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9090571"/>
            <a:ext cx="40016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Marathi News Intelligence Pipeline</a:t>
            </a:r>
            <a:endParaRPr lang="en-US" sz="1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0" y="8851404"/>
            <a:ext cx="1905000" cy="7688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— Objectives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047750" y="1676400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4" name="Text 2"/>
          <p:cNvSpPr/>
          <p:nvPr/>
        </p:nvSpPr>
        <p:spPr>
          <a:xfrm>
            <a:off x="1177290" y="3839096"/>
            <a:ext cx="7880985" cy="3116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rule-based Marathi morphological analyser — no training data</a:t>
            </a:r>
            <a:endParaRPr lang="en-US" sz="2400" dirty="0"/>
          </a:p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seven NLP tasks into one pipeline sharing a common representation</a:t>
            </a:r>
            <a:endParaRPr lang="en-US" sz="2400" dirty="0"/>
          </a:p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hybrid search engine (BM25 + dense + RRF) and isolate morphology's real effect</a:t>
            </a:r>
            <a:endParaRPr lang="en-US" sz="2400" dirty="0"/>
          </a:p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a MahaBERT topic classifier and compare it with a pre-trained baseline</a:t>
            </a:r>
            <a:endParaRPr lang="en-US" sz="2400" dirty="0"/>
          </a:p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every component against a simple baseline, so reported gains are real</a:t>
            </a:r>
            <a:endParaRPr lang="en-US" sz="2400" dirty="0"/>
          </a:p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 usable interface — a Streamlit dashboard and an offline HTML demo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7750" y="8651379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9090571"/>
            <a:ext cx="40016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Marathi News Intelligence Pipeline</a:t>
            </a:r>
            <a:endParaRPr lang="en-US" sz="1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0" y="8851404"/>
            <a:ext cx="1905000" cy="768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/ Basic Concept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047750" y="1676400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2471738"/>
            <a:ext cx="1619250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085975"/>
            <a:ext cx="4319826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Form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634038" y="2085975"/>
            <a:ext cx="5570696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301413" y="2085975"/>
            <a:ext cx="5987653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Gloss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47750" y="3076575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2586038"/>
            <a:ext cx="4319826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घर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634038" y="2586038"/>
            <a:ext cx="5570696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घर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301413" y="2586038"/>
            <a:ext cx="5987653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(bare root)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47750" y="3671888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3181350"/>
            <a:ext cx="4319826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घरात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34038" y="3181350"/>
            <a:ext cx="5570696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घर + आत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301413" y="3181350"/>
            <a:ext cx="5987653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house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47750" y="4267200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" y="3776663"/>
            <a:ext cx="4319826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घरातून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34038" y="3776663"/>
            <a:ext cx="5570696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घर + आतून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301413" y="3776663"/>
            <a:ext cx="5987653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inside the house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047750" y="4924425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" y="4371975"/>
            <a:ext cx="431982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घरांमधून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634038" y="4371975"/>
            <a:ext cx="557069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घर + ां + मधून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301413" y="4371975"/>
            <a:ext cx="598765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inside the houses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047750" y="5519738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25" name="Text 23"/>
          <p:cNvSpPr/>
          <p:nvPr/>
        </p:nvSpPr>
        <p:spPr>
          <a:xfrm>
            <a:off x="1181100" y="5029200"/>
            <a:ext cx="4319826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घराच्या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634038" y="5029200"/>
            <a:ext cx="5570696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घर + आ + च्या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1301413" y="5029200"/>
            <a:ext cx="5987653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house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17295" y="6789390"/>
            <a:ext cx="17607915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17000"/>
              </a:lnSpc>
              <a:buSzPct val="100000"/>
              <a:buChar char="■"/>
              <a:tabLst>
                <a:tab pos="173355" algn="l"/>
              </a:tabLst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analyser strips the suffix chain in four ordered layers — clitic, postposition, verb ending, then case &amp; number — then repairs the stem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17295" y="7257008"/>
            <a:ext cx="17607915" cy="4009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17000"/>
              </a:lnSpc>
              <a:buSzPct val="100000"/>
              <a:buChar char="■"/>
              <a:tabLst>
                <a:tab pos="173355" algn="l"/>
              </a:tabLst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is measured in aksharas (syllables), not Unicode characters — fixes cases like शाळा / शाळेत reducing to different roots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047750" y="8689479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31" name="Text 29"/>
          <p:cNvSpPr/>
          <p:nvPr/>
        </p:nvSpPr>
        <p:spPr>
          <a:xfrm>
            <a:off x="1047750" y="9090571"/>
            <a:ext cx="40016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Marathi News Intelligence Pipeline</a:t>
            </a:r>
            <a:endParaRPr lang="en-US" sz="195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0" y="8851404"/>
            <a:ext cx="1905000" cy="7688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Principle / Methodology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047750" y="1676400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4" name="Shape 2"/>
          <p:cNvSpPr/>
          <p:nvPr/>
        </p:nvSpPr>
        <p:spPr>
          <a:xfrm>
            <a:off x="7353895" y="2737396"/>
            <a:ext cx="3580209" cy="576263"/>
          </a:xfrm>
          <a:prstGeom prst="rect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44420" y="2880271"/>
            <a:ext cx="290656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Marathi News Article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046220" y="3447008"/>
            <a:ext cx="27176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680323" y="3870871"/>
            <a:ext cx="6927354" cy="595313"/>
          </a:xfrm>
          <a:prstGeom prst="rect">
            <a:avLst/>
          </a:prstGeom>
          <a:solidFill>
            <a:srgbClr val="9F1D33"/>
          </a:solidFill>
          <a:ln/>
        </p:spPr>
      </p:sp>
      <p:sp>
        <p:nvSpPr>
          <p:cNvPr id="8" name="Text 6"/>
          <p:cNvSpPr/>
          <p:nvPr/>
        </p:nvSpPr>
        <p:spPr>
          <a:xfrm>
            <a:off x="6099423" y="4023271"/>
            <a:ext cx="629697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Morphological Analyser — root + grammar features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046220" y="4599533"/>
            <a:ext cx="27176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47750" y="5023396"/>
            <a:ext cx="3101280" cy="633413"/>
          </a:xfrm>
          <a:prstGeom prst="rect">
            <a:avLst/>
          </a:prstGeom>
          <a:solidFill>
            <a:srgbClr val="F4E4E6"/>
          </a:solidFill>
          <a:ln/>
        </p:spPr>
      </p:sp>
      <p:sp>
        <p:nvSpPr>
          <p:cNvPr id="11" name="Text 9"/>
          <p:cNvSpPr/>
          <p:nvPr/>
        </p:nvSpPr>
        <p:spPr>
          <a:xfrm>
            <a:off x="1096481" y="5194846"/>
            <a:ext cx="300381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Categorisation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320480" y="5023396"/>
            <a:ext cx="3101355" cy="633413"/>
          </a:xfrm>
          <a:prstGeom prst="rect">
            <a:avLst/>
          </a:prstGeom>
          <a:solidFill>
            <a:srgbClr val="F4E4E6"/>
          </a:solidFill>
          <a:ln/>
        </p:spPr>
      </p:sp>
      <p:sp>
        <p:nvSpPr>
          <p:cNvPr id="13" name="Text 11"/>
          <p:cNvSpPr/>
          <p:nvPr/>
        </p:nvSpPr>
        <p:spPr>
          <a:xfrm>
            <a:off x="4369210" y="5194846"/>
            <a:ext cx="300389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Summarisation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593285" y="5023396"/>
            <a:ext cx="3101355" cy="633413"/>
          </a:xfrm>
          <a:prstGeom prst="rect">
            <a:avLst/>
          </a:prstGeom>
          <a:solidFill>
            <a:srgbClr val="F4E4E6"/>
          </a:solidFill>
          <a:ln/>
        </p:spPr>
      </p:sp>
      <p:sp>
        <p:nvSpPr>
          <p:cNvPr id="15" name="Text 13"/>
          <p:cNvSpPr/>
          <p:nvPr/>
        </p:nvSpPr>
        <p:spPr>
          <a:xfrm>
            <a:off x="7642015" y="5194846"/>
            <a:ext cx="300389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· Entity Extraction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866090" y="5023396"/>
            <a:ext cx="3101355" cy="633413"/>
          </a:xfrm>
          <a:prstGeom prst="rect">
            <a:avLst/>
          </a:prstGeom>
          <a:solidFill>
            <a:srgbClr val="F4E4E6"/>
          </a:solidFill>
          <a:ln/>
        </p:spPr>
      </p:sp>
      <p:sp>
        <p:nvSpPr>
          <p:cNvPr id="17" name="Text 15"/>
          <p:cNvSpPr/>
          <p:nvPr/>
        </p:nvSpPr>
        <p:spPr>
          <a:xfrm>
            <a:off x="10914820" y="5194846"/>
            <a:ext cx="300389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· Sentiment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4138895" y="5023396"/>
            <a:ext cx="3101355" cy="633413"/>
          </a:xfrm>
          <a:prstGeom prst="rect">
            <a:avLst/>
          </a:prstGeom>
          <a:solidFill>
            <a:srgbClr val="F4E4E6"/>
          </a:solidFill>
          <a:ln/>
        </p:spPr>
      </p:sp>
      <p:sp>
        <p:nvSpPr>
          <p:cNvPr id="19" name="Text 17"/>
          <p:cNvSpPr/>
          <p:nvPr/>
        </p:nvSpPr>
        <p:spPr>
          <a:xfrm>
            <a:off x="14187625" y="5194846"/>
            <a:ext cx="300389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Translation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046220" y="5790158"/>
            <a:ext cx="27176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5218807" y="6214021"/>
            <a:ext cx="7850312" cy="595313"/>
          </a:xfrm>
          <a:prstGeom prst="rect">
            <a:avLst/>
          </a:prstGeom>
          <a:solidFill>
            <a:srgbClr val="9F1D33"/>
          </a:solidFill>
          <a:ln/>
        </p:spPr>
      </p:sp>
      <p:sp>
        <p:nvSpPr>
          <p:cNvPr id="22" name="Text 20"/>
          <p:cNvSpPr/>
          <p:nvPr/>
        </p:nvSpPr>
        <p:spPr>
          <a:xfrm>
            <a:off x="5637907" y="6366421"/>
            <a:ext cx="72476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Retrieval Index — BM25 + Dense + Reciprocal Rank Fusion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046220" y="6942683"/>
            <a:ext cx="27176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47750" y="7366546"/>
            <a:ext cx="8001000" cy="576263"/>
          </a:xfrm>
          <a:prstGeom prst="rect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0610" y="7509421"/>
            <a:ext cx="795528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Dashboard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239250" y="7366546"/>
            <a:ext cx="8001000" cy="576263"/>
          </a:xfrm>
          <a:prstGeom prst="rect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62110" y="7509421"/>
            <a:ext cx="795528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HTML Demo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47750" y="8689479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29" name="Text 27"/>
          <p:cNvSpPr/>
          <p:nvPr/>
        </p:nvSpPr>
        <p:spPr>
          <a:xfrm>
            <a:off x="1047750" y="9090571"/>
            <a:ext cx="40016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Marathi News Intelligence Pipeline</a:t>
            </a:r>
            <a:endParaRPr lang="en-US" sz="195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0" y="8851404"/>
            <a:ext cx="1905000" cy="7688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047750" y="1676400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8641854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105025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6" name="Text 4"/>
          <p:cNvSpPr/>
          <p:nvPr/>
        </p:nvSpPr>
        <p:spPr>
          <a:xfrm>
            <a:off x="899543" y="4766221"/>
            <a:ext cx="326054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7047"/>
              </a:lnSpc>
              <a:buNone/>
            </a:pPr>
            <a:r>
              <a:rPr lang="en-US" sz="63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300" dirty="0"/>
          </a:p>
        </p:txBody>
      </p:sp>
      <p:sp>
        <p:nvSpPr>
          <p:cNvPr id="7" name="Text 5"/>
          <p:cNvSpPr/>
          <p:nvPr/>
        </p:nvSpPr>
        <p:spPr>
          <a:xfrm>
            <a:off x="899543" y="5699671"/>
            <a:ext cx="326054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Tasks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354785" y="4575721"/>
            <a:ext cx="9525" cy="1604963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9" name="Text 7"/>
          <p:cNvSpPr/>
          <p:nvPr/>
        </p:nvSpPr>
        <p:spPr>
          <a:xfrm>
            <a:off x="4216576" y="4766221"/>
            <a:ext cx="325015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7047"/>
              </a:lnSpc>
              <a:buNone/>
            </a:pPr>
            <a:r>
              <a:rPr lang="en-US" sz="63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4216576" y="5699671"/>
            <a:ext cx="325015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Articles Processed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661895" y="4575721"/>
            <a:ext cx="9525" cy="1604963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2" name="Text 10"/>
          <p:cNvSpPr/>
          <p:nvPr/>
        </p:nvSpPr>
        <p:spPr>
          <a:xfrm>
            <a:off x="7523690" y="4766221"/>
            <a:ext cx="325007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7047"/>
              </a:lnSpc>
              <a:buNone/>
            </a:pPr>
            <a:r>
              <a:rPr lang="en-US" sz="63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54.7%</a:t>
            </a:r>
            <a:endParaRPr lang="en-US" sz="6300" dirty="0"/>
          </a:p>
        </p:txBody>
      </p:sp>
      <p:sp>
        <p:nvSpPr>
          <p:cNvPr id="13" name="Text 11"/>
          <p:cNvSpPr/>
          <p:nvPr/>
        </p:nvSpPr>
        <p:spPr>
          <a:xfrm>
            <a:off x="7523690" y="5699671"/>
            <a:ext cx="32500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Search Index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968930" y="4575721"/>
            <a:ext cx="9525" cy="1604963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5" name="Text 13"/>
          <p:cNvSpPr/>
          <p:nvPr/>
        </p:nvSpPr>
        <p:spPr>
          <a:xfrm>
            <a:off x="10830721" y="4766221"/>
            <a:ext cx="325015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7047"/>
              </a:lnSpc>
              <a:buNone/>
            </a:pPr>
            <a:r>
              <a:rPr lang="en-US" sz="63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95.4%</a:t>
            </a:r>
            <a:endParaRPr lang="en-US" sz="6300" dirty="0"/>
          </a:p>
        </p:txBody>
      </p:sp>
      <p:sp>
        <p:nvSpPr>
          <p:cNvPr id="16" name="Text 14"/>
          <p:cNvSpPr/>
          <p:nvPr/>
        </p:nvSpPr>
        <p:spPr>
          <a:xfrm>
            <a:off x="10830721" y="5699671"/>
            <a:ext cx="325015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Accuracy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4276040" y="4575721"/>
            <a:ext cx="9525" cy="1604963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8" name="Text 16"/>
          <p:cNvSpPr/>
          <p:nvPr/>
        </p:nvSpPr>
        <p:spPr>
          <a:xfrm>
            <a:off x="14137831" y="4766221"/>
            <a:ext cx="325015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7047"/>
              </a:lnSpc>
              <a:buNone/>
            </a:pPr>
            <a:r>
              <a:rPr lang="en-US" sz="63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6300" dirty="0"/>
          </a:p>
        </p:txBody>
      </p:sp>
      <p:sp>
        <p:nvSpPr>
          <p:cNvPr id="19" name="Text 17"/>
          <p:cNvSpPr/>
          <p:nvPr/>
        </p:nvSpPr>
        <p:spPr>
          <a:xfrm>
            <a:off x="14137831" y="5699671"/>
            <a:ext cx="325015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7750" y="8651379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21" name="Text 19"/>
          <p:cNvSpPr/>
          <p:nvPr/>
        </p:nvSpPr>
        <p:spPr>
          <a:xfrm>
            <a:off x="1047750" y="9090571"/>
            <a:ext cx="40016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Marathi News Intelligence Pipeline</a:t>
            </a:r>
            <a:endParaRPr lang="en-US" sz="19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0" y="8851404"/>
            <a:ext cx="1905000" cy="7688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Does Morphology Help Search?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047750" y="1676400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2471738"/>
            <a:ext cx="1619250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085975"/>
            <a:ext cx="4498489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Method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720751" y="2085975"/>
            <a:ext cx="2711552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1st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612259" y="2085975"/>
            <a:ext cx="2711552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503766" y="2085975"/>
            <a:ext cx="2711552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395271" y="2085975"/>
            <a:ext cx="2711629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MRR@10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47750" y="3119438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2624138"/>
            <a:ext cx="449848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— plain words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720751" y="2624138"/>
            <a:ext cx="271155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612259" y="2624138"/>
            <a:ext cx="271155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503766" y="2624138"/>
            <a:ext cx="271155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395271" y="2624138"/>
            <a:ext cx="271162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0.675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47750" y="3757613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" y="3262313"/>
            <a:ext cx="449848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+ morphology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720751" y="3262313"/>
            <a:ext cx="271155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0.623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612259" y="3262313"/>
            <a:ext cx="271155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503766" y="3262313"/>
            <a:ext cx="271155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395271" y="3262313"/>
            <a:ext cx="271162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47750" y="5628233"/>
            <a:ext cx="7425355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न्यायालय </a:t>
            </a:r>
            <a:pPr algn="l" indent="0" marL="0">
              <a:buNone/>
            </a:pPr>
            <a:r>
              <a:rPr lang="en-US" sz="2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(court)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047750" y="6271171"/>
            <a:ext cx="742535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result </a:t>
            </a:r>
            <a:pPr algn="l" indent="0" marL="0">
              <a:buNone/>
            </a:pPr>
            <a:r>
              <a:rPr lang="en-US" sz="2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24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results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47750" y="6690271"/>
            <a:ext cx="742535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query, same 400 articles, without vs. with morphology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8596268" y="5736431"/>
            <a:ext cx="8720182" cy="1174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17000"/>
              </a:lnSpc>
              <a:buSzPct val="100000"/>
              <a:buChar char="■"/>
              <a:tabLst>
                <a:tab pos="173355" algn="l"/>
              </a:tabLst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one- and two-word queries, morphology gives no ranking benefit</a:t>
            </a:r>
            <a:endParaRPr lang="en-US" sz="1950" dirty="0"/>
          </a:p>
          <a:p>
            <a:pPr algn="l" marL="173355" indent="-173355">
              <a:lnSpc>
                <a:spcPct val="117000"/>
              </a:lnSpc>
              <a:buSzPct val="100000"/>
              <a:buChar char="■"/>
              <a:tabLst>
                <a:tab pos="173355" algn="l"/>
              </a:tabLst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real value is recall: empty result pages fall from 14.4% to 1.1% on cross-inflection queries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47750" y="8689479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750" y="9090571"/>
            <a:ext cx="40016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Marathi News Intelligence Pipeline</a:t>
            </a:r>
            <a:endParaRPr lang="en-US" sz="19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0" y="8851404"/>
            <a:ext cx="1905000" cy="7688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047750" y="1676400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4" name="Text 2"/>
          <p:cNvSpPr/>
          <p:nvPr/>
        </p:nvSpPr>
        <p:spPr>
          <a:xfrm>
            <a:off x="1177290" y="3572396"/>
            <a:ext cx="14234160" cy="3649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archival tools for Marathi-language news publishers</a:t>
            </a:r>
            <a:endParaRPr lang="en-US" sz="2400" dirty="0"/>
          </a:p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monitoring and analytics for brands and PR teams covering Marathi audiences</a:t>
            </a:r>
            <a:endParaRPr lang="en-US" sz="2400" dirty="0"/>
          </a:p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libraries and government portals serving Marathi-speaking users</a:t>
            </a:r>
            <a:endParaRPr lang="en-US" sz="2400" dirty="0"/>
          </a:p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English-language access to Marathi news, via automatic translation</a:t>
            </a:r>
            <a:endParaRPr lang="en-US" sz="2400" dirty="0"/>
          </a:p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morphology-first approach transferable to other agglutinative Indian languages, such as Hindi and Konkani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7750" y="8651379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9090571"/>
            <a:ext cx="40016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Marathi News Intelligence Pipeline</a:t>
            </a:r>
            <a:endParaRPr lang="en-US" sz="1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0" y="8851404"/>
            <a:ext cx="1905000" cy="7688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047750" y="1676400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4" name="Text 2"/>
          <p:cNvSpPr/>
          <p:nvPr/>
        </p:nvSpPr>
        <p:spPr>
          <a:xfrm>
            <a:off x="1177290" y="3839096"/>
            <a:ext cx="7880985" cy="3116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training data needed for the morphological analyser — rule-based from day one</a:t>
            </a:r>
            <a:endParaRPr lang="en-US" sz="2400" dirty="0"/>
          </a:p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pipeline — each of the seven tasks runs, and fails, independently</a:t>
            </a:r>
            <a:endParaRPr lang="en-US" sz="2400" dirty="0"/>
          </a:p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claimed gain is ablation-tested against a baseline, not assumed</a:t>
            </a:r>
            <a:endParaRPr lang="en-US" sz="2400" dirty="0"/>
          </a:p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a 4GB laptop GPU, or CPU only</a:t>
            </a:r>
            <a:endParaRPr lang="en-US" sz="2400" dirty="0"/>
          </a:p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with an offline, single-file HTML demo — no installation needed</a:t>
            </a:r>
            <a:endParaRPr lang="en-US" sz="2400" dirty="0"/>
          </a:p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by 44 automated tests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7750" y="8651379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9090571"/>
            <a:ext cx="40016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Marathi News Intelligence Pipeline</a:t>
            </a:r>
            <a:endParaRPr lang="en-US" sz="1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0" y="8851404"/>
            <a:ext cx="1905000" cy="7688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/ Challenges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047750" y="1676400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4" name="Text 2"/>
          <p:cNvSpPr/>
          <p:nvPr/>
        </p:nvSpPr>
        <p:spPr>
          <a:xfrm>
            <a:off x="1177290" y="3794745"/>
            <a:ext cx="17124045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Morphology's ranking gain is modest, and slightly negative on one- and two-word queries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77290" y="4472880"/>
            <a:ext cx="17124045" cy="492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Over-stemming: नदी and नद्या both reduce to नद — a consistent label, not a real word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77290" y="5193878"/>
            <a:ext cx="17124045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boundaries can merge two adjacent names of the same type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77290" y="5872014"/>
            <a:ext cx="17124045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summariser selects existing sentences and does not beat a simple lead-2 baseline on ROUGE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77290" y="6550149"/>
            <a:ext cx="17124045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articles come from BBC Marathi, so topic mix and tone are skewed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47750" y="8651379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9090571"/>
            <a:ext cx="40016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Marathi News Intelligence Pipeline</a:t>
            </a:r>
            <a:endParaRPr lang="en-US" sz="1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0" y="8851404"/>
            <a:ext cx="1905000" cy="7688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Developments / Future Scope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047750" y="1676400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4" name="Text 2"/>
          <p:cNvSpPr/>
          <p:nvPr/>
        </p:nvSpPr>
        <p:spPr>
          <a:xfrm>
            <a:off x="1177290" y="3816176"/>
            <a:ext cx="15662910" cy="316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ingestion already works: pulls current articles from BBC Marathi, ABP Majha and Lokmat</a:t>
            </a:r>
            <a:endParaRPr lang="en-US" sz="2400" dirty="0"/>
          </a:p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dictionary check to the analyser so roots are valid lemmas, reducing over-stemming</a:t>
            </a:r>
            <a:endParaRPr lang="en-US" sz="2400" dirty="0"/>
          </a:p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 abstractive summarisation (e.g. IndicBART) as more GPU memory becomes available</a:t>
            </a:r>
            <a:endParaRPr lang="en-US" sz="2400" dirty="0"/>
          </a:p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 NER model with proper entity boundaries and add coreference resolution</a:t>
            </a:r>
            <a:endParaRPr lang="en-US" sz="2400" dirty="0"/>
          </a:p>
          <a:p>
            <a:pPr algn="l" marL="213360" indent="-213360">
              <a:lnSpc>
                <a:spcPct val="116757"/>
              </a:lnSpc>
              <a:buSzPct val="100000"/>
              <a:buChar char="■"/>
              <a:tabLst>
                <a:tab pos="213360" algn="l"/>
              </a:tabLst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Broaden the corpus beyond BBC Marathi to reduce topic and tone skew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7750" y="8651379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9090571"/>
            <a:ext cx="40016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Marathi News Intelligence Pipeline</a:t>
            </a:r>
            <a:endParaRPr lang="en-US" sz="1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0" y="8851404"/>
            <a:ext cx="1905000" cy="7688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047750" y="1676400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3680371"/>
            <a:ext cx="16187738" cy="116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471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NLP tasks, integrated around one morphological analyser built entirely from scratch.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047750" y="5154811"/>
            <a:ext cx="17287875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99"/>
              </a:lnSpc>
              <a:buNone/>
            </a:pPr>
            <a:r>
              <a:rPr lang="en-US" sz="2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real contribution is recall, not ranking — empty search results fall from 14.4% to 1.1%.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047750" y="6156796"/>
            <a:ext cx="54831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22"/>
              </a:lnSpc>
              <a:buNone/>
            </a:pPr>
            <a:r>
              <a:rPr lang="en-US" sz="42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54.7%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47750" y="6785446"/>
            <a:ext cx="548317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search index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413450" y="6156796"/>
            <a:ext cx="54832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22"/>
              </a:lnSpc>
              <a:buNone/>
            </a:pPr>
            <a:r>
              <a:rPr lang="en-US" sz="42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95.4%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13450" y="6785446"/>
            <a:ext cx="548325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accuracy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779225" y="6156796"/>
            <a:ext cx="54831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22"/>
              </a:lnSpc>
              <a:buNone/>
            </a:pPr>
            <a:r>
              <a:rPr lang="en-US" sz="42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1779225" y="6785446"/>
            <a:ext cx="548317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passing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7750" y="8651379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9090571"/>
            <a:ext cx="40016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Marathi News Intelligence Pipeline</a:t>
            </a:r>
            <a:endParaRPr lang="en-US" sz="1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0" y="8851404"/>
            <a:ext cx="1905000" cy="7688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9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047750" y="1676400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3732014"/>
            <a:ext cx="853916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Porter — An algorithm for suffix stripping, 1980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477375" y="3732014"/>
            <a:ext cx="853916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 Litake et al. — L3Cube-MahaNER, LREC 2022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4256782"/>
            <a:ext cx="799576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Bapat, Gune &amp; Bhattacharyya — Finite-state morphological analyser for Marathi, COLING 2010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477375" y="4256782"/>
            <a:ext cx="799576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[11] Kulkarni et al. — L3CubeMahaSent, WASSA 2021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47750" y="5115818"/>
            <a:ext cx="853916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Devlin et al. — BERT, NAACL-HLT 2019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477375" y="5115818"/>
            <a:ext cx="853916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[12] Mihalcea &amp; Tarau — TextRank, EMNLP 2004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47750" y="5640586"/>
            <a:ext cx="853916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Joshi — L3Cube-MahaBERT, WILDRE-6 2022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477375" y="5640586"/>
            <a:ext cx="853916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[15] Hasan et al. — XL-Sum, ACL-IJCNLP 2021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47750" y="6165354"/>
            <a:ext cx="853916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 Mittal et al. — L3Cube-MahaNews, arXiv 2024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477375" y="6165354"/>
            <a:ext cx="853916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[18] Robertson &amp; Zaragoza — BM25 and beyond, 2009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750" y="6690122"/>
            <a:ext cx="853916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[19] Cormack, Clarke &amp; Büttcher — Reciprocal rank fusion, SIGIR 2009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477375" y="6690122"/>
            <a:ext cx="853916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[20] NLLB Team — No Language Left Behind, arXiv 2022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50" y="8651379"/>
            <a:ext cx="1619250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9090571"/>
            <a:ext cx="40016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Marathi News Intelligence Pipeline</a:t>
            </a:r>
            <a:endParaRPr lang="en-US" sz="19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0" y="8851404"/>
            <a:ext cx="1905000" cy="7688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9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223" y="4783931"/>
            <a:ext cx="3809554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6192500" y="8986838"/>
            <a:ext cx="1428750" cy="63341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0" y="8986838"/>
            <a:ext cx="1428750" cy="6334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2026-09-21T15:13:35Z</dcterms:created>
  <dcterms:modified xsi:type="dcterms:W3CDTF">2026-09-21T15:13:35Z</dcterms:modified>
</cp:coreProperties>
</file>